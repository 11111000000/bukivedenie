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9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Визуализация и исследование данных — на примере «Война и мир»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914400" y="237744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E7FF"/>
                </a:solidFill>
              </a:rPr>
              <a:t>Министерство образования Иркутской области · Сиб. отделение РАН · Региональная конференция «Наука. Технологии. Интеллект»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324D"/>
                </a:solidFill>
              </a:rPr>
              <a:t>Визуализация и исследование данных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17324D"/>
                </a:solidFill>
              </a:rPr>
              <a:t>при анализе классической литературы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17324D"/>
                </a:solidFill>
              </a:rPr>
              <a:t>на примере романа “Война и мир”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606D"/>
                </a:solidFill>
              </a:rPr>
              <a:t>Министерство образования Иркутской области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2606D"/>
                </a:solidFill>
              </a:rPr>
              <a:t>Министерство по молодежной политике Иркутской области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2606D"/>
                </a:solidFill>
              </a:rPr>
              <a:t>Сибирское отделение Российской академии наук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2606D"/>
                </a:solidFill>
              </a:rPr>
              <a:t>Региональная конференция проектно-исследовательских работ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2606D"/>
                </a:solidFill>
              </a:rPr>
              <a:t>«Наука. Технологии. Интеллект»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2606D"/>
                </a:solidFill>
              </a:rPr>
              <a:t>Для учащихся 8-11 классов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2606D"/>
                </a:solidFill>
              </a:rPr>
              <a:t>общеобразовательных учреждений Иркутской области</a:t>
            </a:r>
            <a:endParaRPr lang="en-US" sz="1150" dirty="0"/>
          </a:p>
        </p:txBody>
      </p:sp>
      <p:pic>
        <p:nvPicPr>
          <p:cNvPr id="4" name="Image 0" descr="/home/az/Code/bukivedenie/site/presentation/slide-02-int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43400" y="502920"/>
            <a:ext cx="3840480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324D"/>
                </a:solidFill>
              </a:rPr>
              <a:t>Введение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1554480"/>
            <a:ext cx="3657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</a:rPr>
              <a:t>Цель: создать открытый и воспроизводимый способ анализа текста и построения визуализаций для крупного литературного произведения.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</a:rPr>
              <a:t>Задачи: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</a:rPr>
              <a:t>• разработать понятный формат визуализаций;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</a:rPr>
              <a:t>• автоматизировать сбор и подготовку данных из текста;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</a:rPr>
              <a:t>• построить наглядные визуализации;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</a:rPr>
              <a:t>• опубликовать результат в открытом доступе.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324D"/>
                </a:solidFill>
              </a:rPr>
              <a:t>Система разработки на телефоне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1554480"/>
            <a:ext cx="3657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</a:rPr>
              <a:t>Инструменты: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</a:rPr>
              <a:t>• Markor — черновики и заметки.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</a:rPr>
              <a:t>• Termux — рабочая среда на Android.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</a:rPr>
              <a:t>• GitHub — хранение и публикация проекта.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</a:rPr>
              <a:t>• PI — помощник при написании кода.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</a:rPr>
              <a:t>• Python — обработка текста и данных.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</a:rPr>
              <a:t>• JS — веб-витрина визуализаций.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324D"/>
                </a:solidFill>
              </a:rPr>
              <a:t>Сбор данных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1554480"/>
            <a:ext cx="3657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</a:rPr>
              <a:t>Пайплайн: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</a:rPr>
              <a:t>• нормализация текста (UTF-8, единые кавычки и тире);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</a:rPr>
              <a:t>• разбиение на токены;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</a:rPr>
              <a:t>• разбиение на предложения, абзацы, главы и диалоги;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</a:rPr>
              <a:t>• лемматизация слов;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</a:rPr>
              <a:t>• выделение имен собственных и их связей в тексте;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</a:rPr>
              <a:t>• подсчет метрик сложности и тональности;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</a:rPr>
              <a:t>• вывод данных в таблицы JSON и CSV.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324D"/>
                </a:solidFill>
              </a:rPr>
              <a:t>Визуализация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1554480"/>
            <a:ext cx="3657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</a:rPr>
              <a:t>• Визуализации сделаны на JavaScript без API и внешних серверов.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</a:rPr>
              <a:t>• Проект выложен в GitHub и запускается локально как статический сайт.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324D"/>
                </a:solidFill>
              </a:rPr>
              <a:t>Реализация кода при помощи агента.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1554480"/>
            <a:ext cx="3657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</a:rPr>
              <a:t>В разработке я использовала агента PI.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</a:rPr>
              <a:t>• Ему нужна максимально подробная спецификация.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</a:rPr>
              <a:t>• Он быстро пишет большой объем кода.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</a:rPr>
              <a:t>• Его нужно внимательно читать, чтобы не накапливать когнитивный долг.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</a:rPr>
              <a:t>• Он склонен усложнять структуру репозитория.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</a:rPr>
              <a:t>• После генерации нужен рефакторинг.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324D"/>
                </a:solidFill>
              </a:rPr>
              <a:t>Спасибо за внимание.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606D"/>
                </a:solidFill>
              </a:rPr>
              <a:t>Дополнительные материалы, визуализации и код доступны в репозитории.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2833"/>
                </a:solidFill>
              </a:rPr>
              <a:t>Частотное ядро (frequency core)</a:t>
            </a:r>
            <a:endParaRPr lang="en-US" sz="2200" dirty="0"/>
          </a:p>
        </p:txBody>
      </p:sp>
      <p:pic>
        <p:nvPicPr>
          <p:cNvPr id="3" name="Image 0" descr="/home/az/Code/bukivedenie/site/presentation/-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868680"/>
            <a:ext cx="8138160" cy="4251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525780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573"/>
                </a:solidFill>
              </a:rPr>
              <a:t>График показывает, как распределяются частоты токенов после очистки и удаления стоп-слов. Он помогает быстро увидеть ядро лексики произведения.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2833"/>
                </a:solidFill>
              </a:rPr>
              <a:t>Top tokens — топ слов</a:t>
            </a:r>
            <a:endParaRPr lang="en-US" sz="2200" dirty="0"/>
          </a:p>
        </p:txBody>
      </p:sp>
      <p:pic>
        <p:nvPicPr>
          <p:cNvPr id="3" name="Image 0" descr="/home/az/Code/bukivedenie/site/presentation/top-tokens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868680"/>
            <a:ext cx="8138160" cy="4251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525780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573"/>
                </a:solidFill>
              </a:rPr>
              <a:t>Барчарт с самыми частотными словами. Он нужен для быстрой проверки нормализации и лемматизации.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2833"/>
                </a:solidFill>
              </a:rPr>
              <a:t>Ритм по главам</a:t>
            </a:r>
            <a:endParaRPr lang="en-US" sz="2200" dirty="0"/>
          </a:p>
        </p:txBody>
      </p:sp>
      <p:pic>
        <p:nvPicPr>
          <p:cNvPr id="3" name="Image 0" descr="/home/az/Code/bukivedenie/site/presentation/-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868680"/>
            <a:ext cx="8138160" cy="4251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525780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573"/>
                </a:solidFill>
              </a:rPr>
              <a:t>Диаграмма показывает плотность текстовой активности по главам и помогает находить пики динамики.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2833"/>
                </a:solidFill>
              </a:rPr>
              <a:t>Тональность по главам</a:t>
            </a:r>
            <a:endParaRPr lang="en-US" sz="2200" dirty="0"/>
          </a:p>
        </p:txBody>
      </p:sp>
      <p:pic>
        <p:nvPicPr>
          <p:cNvPr id="3" name="Image 0" descr="/home/az/Code/bukivedenie/site/presentation/-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868680"/>
            <a:ext cx="8138160" cy="4251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525780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573"/>
                </a:solidFill>
              </a:rPr>
              <a:t>Линейный график показывает изменение тональности по главам. Это приближенная оценка, но она помогает увидеть эмоциональные сдвиги.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2833"/>
                </a:solidFill>
              </a:rPr>
              <a:t>Сеть персонажей</a:t>
            </a:r>
            <a:endParaRPr lang="en-US" sz="2200" dirty="0"/>
          </a:p>
        </p:txBody>
      </p:sp>
      <p:pic>
        <p:nvPicPr>
          <p:cNvPr id="3" name="Image 0" descr="/home/az/Code/bukivedenie/site/presentation/-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868680"/>
            <a:ext cx="8138160" cy="4251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525780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573"/>
                </a:solidFill>
              </a:rPr>
              <a:t>Граф ко-встречаемости показывает, какие персонажи чаще появляются вместе. По нему видно центральных и второстепенных героев.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2833"/>
                </a:solidFill>
              </a:rPr>
              <a:t>Список персонажей</a:t>
            </a:r>
            <a:endParaRPr lang="en-US" sz="2200" dirty="0"/>
          </a:p>
        </p:txBody>
      </p:sp>
      <p:pic>
        <p:nvPicPr>
          <p:cNvPr id="3" name="Image 0" descr="/home/az/Code/bukivedenie/site/presentation/articl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868680"/>
            <a:ext cx="8138160" cy="4251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525780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573"/>
                </a:solidFill>
              </a:rPr>
              <a:t>Таблица показывает найденных персонажей и частоту их упоминаний. Часть расхождений связана с эвристическим выделением имен.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2833"/>
                </a:solidFill>
              </a:rPr>
              <a:t>Hapax legomena</a:t>
            </a:r>
            <a:endParaRPr lang="en-US" sz="2200" dirty="0"/>
          </a:p>
        </p:txBody>
      </p:sp>
      <p:pic>
        <p:nvPicPr>
          <p:cNvPr id="3" name="Image 0" descr="/home/az/Code/bukivedenie/site/presentation/hapax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868680"/>
            <a:ext cx="8138160" cy="4251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525780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573"/>
                </a:solidFill>
              </a:rPr>
              <a:t>Это слова, которые встретились только один раз. Они полезны для изучения редкой лексики и возможных артефактов разметки.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2833"/>
                </a:solidFill>
              </a:rPr>
              <a:t>Метаданные прогона</a:t>
            </a:r>
            <a:endParaRPr lang="en-US" sz="2200" dirty="0"/>
          </a:p>
        </p:txBody>
      </p:sp>
      <p:pic>
        <p:nvPicPr>
          <p:cNvPr id="3" name="Image 0" descr="/home/az/Code/bukivedenie/site/presentation/-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868680"/>
            <a:ext cx="8138160" cy="4251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525780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573"/>
                </a:solidFill>
              </a:rPr>
              <a:t>Файл run_metadata.json фиксирует параметры и время прогона. Это важно для воспроизводимости результатов.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2833"/>
                </a:solidFill>
              </a:rPr>
              <a:t>Пунктуация и структура</a:t>
            </a:r>
            <a:endParaRPr lang="en-US" sz="2200" dirty="0"/>
          </a:p>
        </p:txBody>
      </p:sp>
      <p:pic>
        <p:nvPicPr>
          <p:cNvPr id="3" name="Image 0" descr="/home/az/Code/bukivedenie/site/presentation/articl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868680"/>
            <a:ext cx="8138160" cy="4251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525780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573"/>
                </a:solidFill>
              </a:rPr>
              <a:t>Частоты пунктуации по главам помогают увидеть диалоги, паузы и смену ритма повествования.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2833"/>
                </a:solidFill>
              </a:rPr>
              <a:t>Стиль: radar</a:t>
            </a:r>
            <a:endParaRPr lang="en-US" sz="2200" dirty="0"/>
          </a:p>
        </p:txBody>
      </p:sp>
      <p:pic>
        <p:nvPicPr>
          <p:cNvPr id="3" name="Image 0" descr="/home/az/Code/bukivedenie/site/presentation/-radar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868680"/>
            <a:ext cx="8138160" cy="4251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525780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573"/>
                </a:solidFill>
              </a:rPr>
              <a:t>Радар-диаграмма сводит несколько метрик главы в один образ: лексическую плотность, длину предложений и другие признаки стиля.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2833"/>
                </a:solidFill>
              </a:rPr>
              <a:t>Главы: words × sentences</a:t>
            </a:r>
            <a:endParaRPr lang="en-US" sz="2200" dirty="0"/>
          </a:p>
        </p:txBody>
      </p:sp>
      <p:pic>
        <p:nvPicPr>
          <p:cNvPr id="3" name="Image 0" descr="/home/az/Code/bukivedenie/site/presentation/-words-sentences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868680"/>
            <a:ext cx="8138160" cy="4251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525780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573"/>
                </a:solidFill>
              </a:rPr>
              <a:t>Диаграмма показывает соотношение слов и предложений в главах и позволяет быстро заметить аномалии.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2833"/>
                </a:solidFill>
              </a:rPr>
              <a:t>Персонажи × главы</a:t>
            </a:r>
            <a:endParaRPr lang="en-US" sz="2200" dirty="0"/>
          </a:p>
        </p:txBody>
      </p:sp>
      <p:pic>
        <p:nvPicPr>
          <p:cNvPr id="3" name="Image 0" descr="/home/az/Code/bukivedenie/site/presentation/-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868680"/>
            <a:ext cx="8138160" cy="4251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525780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573"/>
                </a:solidFill>
              </a:rPr>
              <a:t>Тепловая карта показывает, где и в каких главах появляются персонажи. Это удобно для отслеживания сюжетных арок.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2833"/>
                </a:solidFill>
              </a:rPr>
              <a:t>Токены × главы</a:t>
            </a:r>
            <a:endParaRPr lang="en-US" sz="2200" dirty="0"/>
          </a:p>
        </p:txBody>
      </p:sp>
      <p:pic>
        <p:nvPicPr>
          <p:cNvPr id="3" name="Image 0" descr="/home/az/Code/bukivedenie/site/presentation/-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868680"/>
            <a:ext cx="8138160" cy="4251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525780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573"/>
                </a:solidFill>
              </a:rPr>
              <a:t>Тепловая карта показывает распределение частот ключевых токенов по главам и помогает увидеть тематические акценты.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2833"/>
                </a:solidFill>
              </a:rPr>
              <a:t>Zipf: rank × frequency</a:t>
            </a:r>
            <a:endParaRPr lang="en-US" sz="2200" dirty="0"/>
          </a:p>
        </p:txBody>
      </p:sp>
      <p:pic>
        <p:nvPicPr>
          <p:cNvPr id="3" name="Image 0" descr="/home/az/Code/bukivedenie/site/presentation/zipf-rank-frequency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868680"/>
            <a:ext cx="8138160" cy="4251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525780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573"/>
                </a:solidFill>
              </a:rPr>
              <a:t>Граф ранга и частоты токенов показывает закон Ципфа и помогает проверить качество токенизации.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324D"/>
                </a:solidFill>
              </a:rPr>
              <a:t>Реализация и выводы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1554480"/>
            <a:ext cx="3657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</a:rPr>
              <a:t>Проект показывает полный конвейер: от текста до визуализаций и статической витрины. Все артефакты хранятся в outputs/&amp;lt;book_id&amp;gt;/ и экспортируются в site/public/data/.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</a:rPr>
              <a:t>Следующие шаги — улучшение выделения именованных сущностей, проверка персонажей, сравнение изданий и масштабирование на корпус.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324D"/>
                </a:solidFill>
              </a:rPr>
              <a:t>Спасибо за внимание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606D"/>
                </a:solidFill>
              </a:rPr>
              <a:t>Вопросы, замечания и дополнительные материалы доступны в репозитории.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bukivedenie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Bukivedenie presentation</dc:title>
  <dc:subject>Presentation export</dc:subject>
  <dc:creator>bukivedenie</dc:creator>
  <cp:lastModifiedBy>bukivedenie</cp:lastModifiedBy>
  <cp:revision>1</cp:revision>
  <dcterms:created xsi:type="dcterms:W3CDTF">2026-05-14T01:06:41Z</dcterms:created>
  <dcterms:modified xsi:type="dcterms:W3CDTF">2026-05-14T01:06:41Z</dcterms:modified>
</cp:coreProperties>
</file>